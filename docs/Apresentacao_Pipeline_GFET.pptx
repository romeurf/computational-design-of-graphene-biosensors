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Desenho Computacional de
Probes de DNA para
Biossensores GFET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767328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Pipeline in silico para deteção de 6 patógenos bacterianos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4632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DD7EE"/>
                </a:solidFill>
              </a:rPr>
              <a:t>Romeu Fernandes  ·  PG45861  ·  Universidade do Minho  · 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18872"/>
          <a:lstStyle/>
          <a:p>
            <a:pPr algn="l"/>
            <a:r>
              <a:rPr sz="2600" b="1">
                <a:solidFill>
                  <a:srgbClr val="FFFFFF"/>
                </a:solidFill>
              </a:rPr>
              <a:t>Alvos Biológicos</a:t>
            </a:r>
          </a:p>
          <a:p>
            <a:pPr algn="l"/>
            <a:r>
              <a:rPr sz="1300">
                <a:solidFill>
                  <a:srgbClr val="BDD7EE"/>
                </a:solidFill>
              </a:rPr>
              <a:t>Genes-alvo selecionados para deteção por GFET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Biossensores GFET —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50876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• GFET (Graphene Field-Effect Transistor): biossensor de elevada
  sensibilidade baseado em grafeno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• Probe de ssDNA imobilizada na superfície de grafeno capta o
  alvo via hibridação → mudança de carga → sinal elétrico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• Objetivo: desenhar probes com Tm, GC% e estrutura secundária
  ótimos para 6 genes bacterianos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1430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Genes Alvo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0" y="1508760"/>
          <a:ext cx="6217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840480"/>
                <a:gridCol w="1280160"/>
              </a:tblGrid>
              <a:tr h="418011"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Gene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Organismo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Grupo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18011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nuc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Staphylococcus aureus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A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rmpM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Neisseria meningitidis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418011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lytA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Streptococcus pneumoniae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B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oprL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Pseudomonas aeruginosa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418011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algD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Pseudomonas aeruginosa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</a:tr>
              <a:tr h="418014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frdB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Haemophilus influenzae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0" y="4572000"/>
            <a:ext cx="6217920" cy="502920"/>
          </a:xfrm>
          <a:prstGeom prst="rect">
            <a:avLst/>
          </a:prstGeom>
          <a:solidFill>
            <a:srgbClr val="FFF2CC"/>
          </a:solidFill>
          <a:ln>
            <a:solidFill>
              <a:srgbClr val="C9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/>
            <a:r>
              <a:rPr sz="1000">
                <a:solidFill>
                  <a:srgbClr val="403000"/>
                </a:solidFill>
              </a:rPr>
              <a:t>algD: gene problemático (ver Slide 4) — apenas 2 sequências no NCBI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</a:rPr>
              <a:t>Grupo A: patógenos Gram-positivos / Gram-negativos sistémicos  |  Grupo B: patógenos respiratórios / Gram-negativos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18872"/>
          <a:lstStyle/>
          <a:p>
            <a:pPr algn="l"/>
            <a:r>
              <a:rPr sz="2600" b="1">
                <a:solidFill>
                  <a:srgbClr val="FFFFFF"/>
                </a:solidFill>
              </a:rPr>
              <a:t>Visão Geral da Pipeline</a:t>
            </a:r>
          </a:p>
          <a:p>
            <a:pPr algn="l"/>
            <a:r>
              <a:rPr sz="1300">
                <a:solidFill>
                  <a:srgbClr val="BDD7EE"/>
                </a:solidFill>
              </a:rPr>
              <a:t>Sequência de execução — do NCBI à previsão 3D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645920"/>
            <a:ext cx="3291840" cy="1280160"/>
          </a:xfrm>
          <a:prstGeom prst="rect">
            <a:avLst/>
          </a:prstGeom>
          <a:solidFill>
            <a:srgbClr val="DDEAF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73152"/>
          <a:lstStyle/>
          <a:p>
            <a:pPr algn="ctr"/>
            <a:r>
              <a:rPr sz="1300" b="1">
                <a:solidFill>
                  <a:srgbClr val="262626"/>
                </a:solidFill>
              </a:rPr>
              <a:t>1. NCBI Entrez</a:t>
            </a:r>
          </a:p>
          <a:p>
            <a:r>
              <a:rPr sz="1000">
                <a:solidFill>
                  <a:srgbClr val="404040"/>
                </a:solidFill>
              </a:rPr>
              <a:t>Recuperação de sequências
≤20 seq/gene, formato FASTA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251960" y="1645920"/>
            <a:ext cx="3291840" cy="1280160"/>
          </a:xfrm>
          <a:prstGeom prst="rect">
            <a:avLst/>
          </a:prstGeom>
          <a:solidFill>
            <a:srgbClr val="C5DAF0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73152"/>
          <a:lstStyle/>
          <a:p>
            <a:pPr algn="ctr"/>
            <a:r>
              <a:rPr sz="1300" b="1">
                <a:solidFill>
                  <a:srgbClr val="262626"/>
                </a:solidFill>
              </a:rPr>
              <a:t>2. MAFFT v7.526</a:t>
            </a:r>
          </a:p>
          <a:p>
            <a:r>
              <a:rPr sz="1000">
                <a:solidFill>
                  <a:srgbClr val="404040"/>
                </a:solidFill>
              </a:rPr>
              <a:t>Alinhamento múltiplo
de sequências (MSA)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75320" y="1645920"/>
            <a:ext cx="3291840" cy="1280160"/>
          </a:xfrm>
          <a:prstGeom prst="rect">
            <a:avLst/>
          </a:prstGeom>
          <a:solidFill>
            <a:srgbClr val="ADCBE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73152"/>
          <a:lstStyle/>
          <a:p>
            <a:pPr algn="ctr"/>
            <a:r>
              <a:rPr sz="1300" b="1">
                <a:solidFill>
                  <a:srgbClr val="262626"/>
                </a:solidFill>
              </a:rPr>
              <a:t>3. Janelas Conservadas</a:t>
            </a:r>
          </a:p>
          <a:p>
            <a:r>
              <a:rPr sz="1000">
                <a:solidFill>
                  <a:srgbClr val="404040"/>
                </a:solidFill>
              </a:rPr>
              <a:t>18–28 nt · conservação ≥ 85%
gaps ≤ 20%  →  candidatas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4160520"/>
            <a:ext cx="3291840" cy="1280160"/>
          </a:xfrm>
          <a:prstGeom prst="rect">
            <a:avLst/>
          </a:prstGeom>
          <a:solidFill>
            <a:srgbClr val="E2EFDA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73152"/>
          <a:lstStyle/>
          <a:p>
            <a:pPr algn="ctr"/>
            <a:r>
              <a:rPr sz="1300" b="1">
                <a:solidFill>
                  <a:srgbClr val="262626"/>
                </a:solidFill>
              </a:rPr>
              <a:t>4. Triagem Termoquímica</a:t>
            </a:r>
          </a:p>
          <a:p>
            <a:r>
              <a:rPr sz="1000">
                <a:solidFill>
                  <a:srgbClr val="404040"/>
                </a:solidFill>
              </a:rPr>
              <a:t>Tm, GC%, hairpin ΔG,
homodimer ΔG  (primer3-py)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4160520"/>
            <a:ext cx="3291840" cy="1280160"/>
          </a:xfrm>
          <a:prstGeom prst="rect">
            <a:avLst/>
          </a:prstGeom>
          <a:solidFill>
            <a:srgbClr val="C6E0B4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73152"/>
          <a:lstStyle/>
          <a:p>
            <a:pPr algn="ctr"/>
            <a:r>
              <a:rPr sz="1300" b="1">
                <a:solidFill>
                  <a:srgbClr val="262626"/>
                </a:solidFill>
              </a:rPr>
              <a:t>5. seqfold (MFE)</a:t>
            </a:r>
          </a:p>
          <a:p>
            <a:r>
              <a:rPr sz="1000">
                <a:solidFill>
                  <a:srgbClr val="404040"/>
                </a:solidFill>
              </a:rPr>
              <a:t>Estrutura secundária ssDNA
ΔG MFE &gt; −6.0 kcal/mol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0" y="4160520"/>
            <a:ext cx="3291840" cy="1280160"/>
          </a:xfrm>
          <a:prstGeom prst="rect">
            <a:avLst/>
          </a:prstGeom>
          <a:solidFill>
            <a:srgbClr val="FCE4D6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73152"/>
          <a:lstStyle/>
          <a:p>
            <a:pPr algn="ctr"/>
            <a:r>
              <a:rPr sz="1300" b="1">
                <a:solidFill>
                  <a:srgbClr val="262626"/>
                </a:solidFill>
              </a:rPr>
              <a:t>6. Boltz-2 (3D)</a:t>
            </a:r>
          </a:p>
          <a:p>
            <a:r>
              <a:rPr sz="1000">
                <a:solidFill>
                  <a:srgbClr val="404040"/>
                </a:solidFill>
              </a:rPr>
              <a:t>Previsão de estrutura 3D
confidence · pTM · pLDDT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7016" y="2121408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0375" y="2121408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6" y="4636008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0375" y="4636008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40312" y="2834640"/>
            <a:ext cx="640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5669280"/>
            <a:ext cx="11704320" cy="502920"/>
          </a:xfrm>
          <a:prstGeom prst="rect">
            <a:avLst/>
          </a:prstGeom>
          <a:solidFill>
            <a:srgbClr val="FFF2CC"/>
          </a:solidFill>
          <a:ln>
            <a:solidFill>
              <a:srgbClr val="C9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/>
            <a:r>
              <a:rPr sz="1100">
                <a:solidFill>
                  <a:srgbClr val="403000"/>
                </a:solidFill>
              </a:rPr>
              <a:t>Output: FINAL_PROBES_ALL.csv (4 263 probes geradas pela pipeline + 75 probes de literatura) · Top 25 → Boltz-2 (Google Colab GPU T4)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18872"/>
          <a:lstStyle/>
          <a:p>
            <a:pPr algn="l"/>
            <a:r>
              <a:rPr sz="2600" b="1">
                <a:solidFill>
                  <a:srgbClr val="FFFFFF"/>
                </a:solidFill>
              </a:rPr>
              <a:t>Passos 1–3: Recuperação, Alinhamento e Candidatos</a:t>
            </a:r>
          </a:p>
          <a:p>
            <a:pPr algn="l"/>
            <a:r>
              <a:rPr sz="1300">
                <a:solidFill>
                  <a:srgbClr val="BDD7EE"/>
                </a:solidFill>
              </a:rPr>
              <a:t>NCBI Entrez → MAFFT → Janelas deslizantes conservadas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Passo 1 — NCBI Entrez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  • Query: gene[Gene Name] + organism[Organism]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  • Máximo 20 sequências por gene (RefSeq preferido)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  • Filtro de comprimento: 100–5000 bp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Passo 2 — MAFFT v7.526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  • Alinhamento múltiplo progressivo (FFT-NS-2)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  • Modo single-sequence para genes com 1 seq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Passo 3 — Janelas Deslizantes Conservadas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  • Comprimento: 18–28 nt  (Wetmur 1991)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  • Passo: 3 nt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  • Conservação por posição ≥ 85%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  • Conteúdo de gaps ≤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Sequências recuperadas e candidatos gerados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463040"/>
          <a:ext cx="5943598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870"/>
                <a:gridCol w="1927654"/>
                <a:gridCol w="883508"/>
                <a:gridCol w="1365421"/>
                <a:gridCol w="1044145"/>
              </a:tblGrid>
              <a:tr h="422910"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Gene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Organismo (abrev.)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Seq. NCBI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Comprimento (bp)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Candidatos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2291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nuc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S. aureus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200–3 000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529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rmpM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N. meningitidis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100–1 200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76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42291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lytA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S. pneumoniae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700–1 300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925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oprL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P. aeruginosa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300–2 000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1 015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42291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algD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P. aeruginosa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500–2 500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</a:tr>
              <a:tr h="42291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frdB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H. influenzae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200–2 000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1 716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42291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102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4 263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943600" y="4983480"/>
            <a:ext cx="5943600" cy="685800"/>
          </a:xfrm>
          <a:prstGeom prst="rect">
            <a:avLst/>
          </a:prstGeom>
          <a:solidFill>
            <a:srgbClr val="FFF2CC"/>
          </a:solidFill>
          <a:ln>
            <a:solidFill>
              <a:srgbClr val="C9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/>
            <a:r>
              <a:rPr sz="1000">
                <a:solidFill>
                  <a:srgbClr val="403000"/>
                </a:solidFill>
              </a:rPr>
              <a:t>algD: apenas 2 sequências encontradas no NCBI (P. aeruginosa).
Resultado: 0 candidatos → gene excluído da análise estrutural.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18872"/>
          <a:lstStyle/>
          <a:p>
            <a:pPr algn="l"/>
            <a:r>
              <a:rPr sz="2600" b="1">
                <a:solidFill>
                  <a:srgbClr val="FFFFFF"/>
                </a:solidFill>
              </a:rPr>
              <a:t>Passo 4: Triagem Termoquímica</a:t>
            </a:r>
          </a:p>
          <a:p>
            <a:pPr algn="l"/>
            <a:r>
              <a:rPr sz="1300">
                <a:solidFill>
                  <a:srgbClr val="BDD7EE"/>
                </a:solidFill>
              </a:rPr>
              <a:t>Cálculo de Tm, GC%, hairpin ΔG e homodimer ΔG via primer3-py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Critérios de Filtragem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463040"/>
          <a:ext cx="5303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828800"/>
              </a:tblGrid>
              <a:tr h="396240"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Parâmetro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Critério (default)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Referência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9624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Tm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53–72 °C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SantaLucia &amp; Hicks 2004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GC%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40–65%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IDT OligoAnalyzer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39624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Hairpin ΔG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&gt; −2 kcal/mol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primer3-py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Homodimer ΔG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&gt; −5 kcal/mol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primer3-py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39624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Comprimento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18–28 nt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Wetmur 1991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3931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Ajustes gene-específicos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2519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• nuc, frdB (AT-rich): Tm mín. 52 °C · GC 38–60%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• oprL, algD (GC-rich): GC máx. 70%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• rmpM: conservação mín. 80% (variabilidade elevada)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0972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Funil de Triagem por Gene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1463040"/>
          <a:ext cx="5943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554480"/>
                <a:gridCol w="1554480"/>
                <a:gridCol w="1645920"/>
              </a:tblGrid>
              <a:tr h="377190"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Gene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Candidatos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Pass básico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7719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nuc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529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23.6%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rmpM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76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42.1%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lytA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925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540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58.4%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oprL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1 015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295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29.1%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algD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</a:tr>
              <a:tr h="37719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frdB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1 716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467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27.2%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4 263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1 459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34.2%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943600" y="4617720"/>
            <a:ext cx="5943600" cy="548640"/>
          </a:xfrm>
          <a:prstGeom prst="rect">
            <a:avLst/>
          </a:prstGeom>
          <a:solidFill>
            <a:srgbClr val="FFF2CC"/>
          </a:solidFill>
          <a:ln>
            <a:solidFill>
              <a:srgbClr val="C9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/>
            <a:r>
              <a:rPr sz="1000">
                <a:solidFill>
                  <a:srgbClr val="403000"/>
                </a:solidFill>
              </a:rPr>
              <a:t>34.2% das candidatas passam todos os critérios termoquímicos. algD: 0 probes (ver Slide 4).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18872"/>
          <a:lstStyle/>
          <a:p>
            <a:pPr algn="l"/>
            <a:r>
              <a:rPr sz="2600" b="1">
                <a:solidFill>
                  <a:srgbClr val="FFFFFF"/>
                </a:solidFill>
              </a:rPr>
              <a:t>Passo 5: Estrutura Secundária — seqfold</a:t>
            </a:r>
          </a:p>
          <a:p>
            <a:pPr algn="l"/>
            <a:r>
              <a:rPr sz="1300">
                <a:solidFill>
                  <a:srgbClr val="BDD7EE"/>
                </a:solidFill>
              </a:rPr>
              <a:t>Previsão de estrutura secundária ssDNA (algoritmo de Nussinov, 37 °C)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• seqfold: implementação do algoritmo de Nussinov para previsão de
  estrutura secundária de ácidos nucleicos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• Temperatura: 37 °C (temperatura fisiológica)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• Calcula: Minimum Free Energy (ΔG MFE) e fração de bases emparelhadas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• Critério de rejeição: ΔG MFE ≤ −6.0 kcal/mol  (Zadeh et al. 2011)
  → probe com estrutura secundária estável demais não hibridiza eficientemente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251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Resultados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4617720"/>
          <a:ext cx="73152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371600"/>
                <a:gridCol w="1280160"/>
                <a:gridCol w="2194560"/>
              </a:tblGrid>
              <a:tr h="274320"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Gene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Pass básico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Pass seqfold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Rejeitadas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Threshold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27432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nuc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118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ΔG ≤ −6.0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rmpM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ΔG ≤ −6.0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lytA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540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538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ΔG ≤ −6.0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oprL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295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295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ΔG ≤ −6.0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frdB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467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467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ΔG ≤ −6.0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1 459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1 450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1097280"/>
            <a:ext cx="3931920" cy="2011680"/>
          </a:xfrm>
          <a:prstGeom prst="rect">
            <a:avLst/>
          </a:prstGeom>
          <a:solidFill>
            <a:srgbClr val="FFF2CC"/>
          </a:solidFill>
          <a:ln>
            <a:solidFill>
              <a:srgbClr val="C9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/>
            <a:r>
              <a:rPr sz="1100">
                <a:solidFill>
                  <a:srgbClr val="403000"/>
                </a:solidFill>
              </a:rPr>
              <a:t>Observação: o threshold −6.0 kcal/mol
é demasiado permissivo para ssDNA —
filtra apenas 9/1 459 (0.6%) das probes.
Recomendação: recalibrar para
−3.0 kcal/mol em iteração futura.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32461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Distribuição de ΔG MFE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56616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• Maioria das probes: ΔG entre 0 e −4 kcal/mol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• Probes nuc (AT-rich): ΔG tipicamente próximo de 0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• Probes oprL (GC-rich): ΔG mais negativo (até −5)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• Nenhuma probe com ΔG &lt; −6 kcal/mol encontrada
  em rmpM, oprL ou frdB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18872"/>
          <a:lstStyle/>
          <a:p>
            <a:pPr algn="l"/>
            <a:r>
              <a:rPr sz="2600" b="1">
                <a:solidFill>
                  <a:srgbClr val="FFFFFF"/>
                </a:solidFill>
              </a:rPr>
              <a:t>Passo 6: Boltz-2 — Previsão de Estrutura 3D</a:t>
            </a:r>
          </a:p>
          <a:p>
            <a:pPr algn="l"/>
            <a:r>
              <a:rPr sz="1300">
                <a:solidFill>
                  <a:srgbClr val="BDD7EE"/>
                </a:solidFill>
              </a:rPr>
              <a:t>Rede neuronal de difusão multimodal para ssDNA (Wohlwend et al.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Modelo Boltz-2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5669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• Boltz-2: rede neuronal de difusão multimodal treinada para
  previsão de estrutura 3D de biomoléculas (proteínas e ácidos nucleicos)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• Input: ficheiro YAML com sequência ssDNA
  {"version": 1, "sequences": [{"dna": {"id": ["A"], "sequence": "..."}}]}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• Executado em Google Colab com GPU T4
  (~2–5 min/probe vs. &gt;30 min em CPU local)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62626"/>
                </a:solidFill>
              </a:rPr>
              <a:t>• Adaptação necessária: Boltz-2 requer modo DNA-only
  (notebook personalizado — descarta validação de proteína)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3434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Métricas de Qualidade Estrutural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4709160"/>
          <a:ext cx="56692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017520"/>
                <a:gridCol w="1280160"/>
              </a:tblGrid>
              <a:tr h="422910"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Métrica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Descrição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Classificação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2291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confidence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Score global de confiança da estrutura prevista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≥ 0.70 → GOOD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pTM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Predicted TM-score (similaridade estrutural global)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informativo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422910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pLDDT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Per-residue Local Distance Difference Test (média)</a:t>
                      </a:r>
                    </a:p>
                  </a:txBody>
                  <a:tcPr/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≥ 0.80 → alta qualidade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109728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Seleção das 25 Probes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6304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• Probes selecionadas: top 5 por gene (pass básico + melhor seqfold ΔG)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• algD excluído (0 probes disponíveis)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• Total: 5 × 5 genes = 25 probes submetidas ao Boltz-2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92608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Classificação por Confidence 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37560"/>
            <a:ext cx="5577840" cy="594360"/>
          </a:xfrm>
          <a:prstGeom prst="rect">
            <a:avLst/>
          </a:prstGeom>
          <a:solidFill>
            <a:srgbClr val="E2EFDA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/>
            <a:r>
              <a:rPr sz="1300" b="1">
                <a:solidFill>
                  <a:srgbClr val="262626"/>
                </a:solidFill>
              </a:rPr>
              <a:t>GOOD  (≥ 0.70)  →  2 probes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995928"/>
            <a:ext cx="5577840" cy="594360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/>
            <a:r>
              <a:rPr sz="1300" b="0">
                <a:solidFill>
                  <a:srgbClr val="262626"/>
                </a:solidFill>
              </a:rPr>
              <a:t>MODERATE  (0.60 – 0.70)  →  8 probes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4654296"/>
            <a:ext cx="5577840" cy="594360"/>
          </a:xfrm>
          <a:prstGeom prst="rect">
            <a:avLst/>
          </a:prstGeom>
          <a:solidFill>
            <a:srgbClr val="FFE0DD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/>
            <a:r>
              <a:rPr sz="1300" b="0">
                <a:solidFill>
                  <a:srgbClr val="262626"/>
                </a:solidFill>
              </a:rPr>
              <a:t>LOW  (&lt; 0.60)  →  15 probes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5349240"/>
            <a:ext cx="5577840" cy="640080"/>
          </a:xfrm>
          <a:prstGeom prst="rect">
            <a:avLst/>
          </a:prstGeom>
          <a:solidFill>
            <a:srgbClr val="FFF2CC"/>
          </a:solidFill>
          <a:ln>
            <a:solidFill>
              <a:srgbClr val="C9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/>
            <a:r>
              <a:rPr sz="1000">
                <a:solidFill>
                  <a:srgbClr val="403000"/>
                </a:solidFill>
              </a:rPr>
              <a:t>Nota: confidence scores para ssDNA tendem a ser menores que para
proteínas (Boltz-2 foi treinado maioritariamente em dados proteicos).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18872"/>
          <a:lstStyle/>
          <a:p>
            <a:pPr algn="l"/>
            <a:r>
              <a:rPr sz="2600" b="1">
                <a:solidFill>
                  <a:srgbClr val="FFFFFF"/>
                </a:solidFill>
              </a:rPr>
              <a:t>Resultados Boltz-2 — 25 Probes</a:t>
            </a:r>
          </a:p>
          <a:p>
            <a:pPr algn="l"/>
            <a:r>
              <a:rPr sz="1300">
                <a:solidFill>
                  <a:srgbClr val="BDD7EE"/>
                </a:solidFill>
              </a:rPr>
              <a:t>Previsão de estrutura 3D  |  GOOD ≥ 0.70  ·  MODERATE 0.60–0.70  ·  LOW &lt; 0.60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1097280"/>
          <a:ext cx="11795755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88"/>
                <a:gridCol w="972178"/>
                <a:gridCol w="1101801"/>
                <a:gridCol w="842554"/>
                <a:gridCol w="1490672"/>
                <a:gridCol w="1036989"/>
                <a:gridCol w="1036989"/>
                <a:gridCol w="1555484"/>
              </a:tblGrid>
              <a:tr h="212773"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Probe ID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Gene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Tm (°C)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GC%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Confidence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pTM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pLDDT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Qualidade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p1065_lytA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lytA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66.5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57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0.636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0.294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0.722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MODERATE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p1073_lytA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lytA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66.8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62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0.496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0.260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0.555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p1074_lytA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lytA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67.6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0.572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0.268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0.649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p1075_lytA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lytA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67.8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0.629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0.241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0.726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MODERATE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p1382_lytA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lytA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67.1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57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0.705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0.319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0.802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GOOD ★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p1877_oprL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oprL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70.6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68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0.616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0.330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0.687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MODERATE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p205_nuc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nuc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60.3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0.430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0.340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0.452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p214_nuc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nuc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59.8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46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0.525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0.250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0.593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p215_nuc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nuc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60.1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44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0.511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0.263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0.572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p216_nuc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nuc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60.3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0.495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0.303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0.543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p2194_oprL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oprL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70.6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69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0.581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0.286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0.654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p2195_oprL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oprL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71.3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67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0.532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0.275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0.597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p2196_oprL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oprL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71.5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68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0.512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0.285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0.569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p2205_oprL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oprL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70.8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69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0.556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0.247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0.634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p3367_frdB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frdB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65.2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0.792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0.374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0.897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GOOD ★★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p3597_frdB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frdB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64.5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0.512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0.292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0.567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p3598_frdB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frdB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64.8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0.524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0.299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0.581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p3630_frdB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frdB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64.9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0.387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0.217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0.429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p3631_frdB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frdB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64.9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0.387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0.280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0.414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p498_nuc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nuc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59.7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0.626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0.296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0.708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MODERATE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p570_rmpM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rmpM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61.8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46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0.535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0.232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0.611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E0DD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p578_rmpM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rmpM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60.0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0.639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0.259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0.734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MODERATE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p579_rmpM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rmpM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60.2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46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0.672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0.343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0.754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MODERATE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12773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p580_rmpM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rmpM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60.4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44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0.609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0.284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0.690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MODERATE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12795">
                <a:tc>
                  <a:txBody>
                    <a:bodyPr tIns="19050" bIns="19050" lIns="38100" rIns="38100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p581_rmpM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rmpM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61.1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46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0.635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0.352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0.705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19050" bIns="19050" lIns="38100" rIns="38100"/>
                    <a:lstStyle/>
                    <a:p>
                      <a:pPr algn="ctr"/>
                      <a:r>
                        <a:rPr sz="850" b="0">
                          <a:solidFill>
                            <a:srgbClr val="262626"/>
                          </a:solidFill>
                        </a:rPr>
                        <a:t>MODERATE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18872"/>
          <a:lstStyle/>
          <a:p>
            <a:pPr algn="l"/>
            <a:r>
              <a:rPr sz="2600" b="1">
                <a:solidFill>
                  <a:srgbClr val="FFFFFF"/>
                </a:solidFill>
              </a:rPr>
              <a:t>Discussão e Próximos Passos</a:t>
            </a:r>
          </a:p>
          <a:p>
            <a:pPr algn="l"/>
            <a:r>
              <a:rPr sz="1300">
                <a:solidFill>
                  <a:srgbClr val="BDD7EE"/>
                </a:solidFill>
              </a:rPr>
              <a:t>Principais conclusões da análise computacional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Principais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 b="0">
                <a:solidFill>
                  <a:srgbClr val="262626"/>
                </a:solidFill>
              </a:rPr>
              <a:t>Pipeline gerou 4 263 candidatas (5 genes) → 1 450 passam triagem completa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262626"/>
                </a:solidFill>
              </a:rPr>
              <a:t>2 Probes GOOD identificadas pelo Boltz-2: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262626"/>
                </a:solidFill>
              </a:rPr>
              <a:t>  ★★ p3367_frdB  (H. influenzae)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262626"/>
                </a:solidFill>
              </a:rPr>
              <a:t>       confidence=0.792  ·  pLDDT=0.897  →  estrutura local bem definida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262626"/>
                </a:solidFill>
              </a:rPr>
              <a:t>  ★   p1382_lytA  (S. pneumoniae)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262626"/>
                </a:solidFill>
              </a:rPr>
              <a:t>       confidence=0.705  ·  pLDDT=0.802  ·  Tm=67.1°C  ·  GC=57%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262626"/>
                </a:solidFill>
              </a:rPr>
              <a:t>Gene nuc (S. aureus): todas as 5 probes em LOW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262626"/>
                </a:solidFill>
              </a:rPr>
              <a:t>  → AT-rich (GC 43–46%) reduz confidence Boltz-2, MAS favorece hibridação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262626"/>
                </a:solidFill>
              </a:rPr>
              <a:t>  → comportamento esperado e desejável para probe de deteção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262626"/>
                </a:solidFill>
              </a:rPr>
              <a:t>Gene algD: problema crítico — apenas 2 seq. no NCBI → 0 probes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262626"/>
                </a:solidFill>
              </a:rPr>
              <a:t>  → necessário ampliar query (termos alternativos, mais organismos)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262626"/>
                </a:solidFill>
              </a:rPr>
              <a:t>seqfold filtra apenas 0.6% das probes (9/1 459)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262626"/>
                </a:solidFill>
              </a:rPr>
              <a:t>  → threshold −6.0 kcal/mol inadequado para ssDNA curto (18–28 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09728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Próximos Passos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577840" cy="1234440"/>
          </a:xfrm>
          <a:prstGeom prst="rect">
            <a:avLst/>
          </a:prstGeom>
          <a:solidFill>
            <a:srgbClr val="DDEAF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200" b="1">
                <a:solidFill>
                  <a:srgbClr val="262626"/>
                </a:solidFill>
              </a:rPr>
              <a:t>Especificidade (BLAST)</a:t>
            </a:r>
          </a:p>
          <a:p>
            <a:r>
              <a:rPr sz="1000">
                <a:solidFill>
                  <a:srgbClr val="404040"/>
                </a:solidFill>
              </a:rPr>
              <a:t>Verificar off-target binding das 2 probes GOOD contra
genoma humano e microbioma oral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2788920"/>
            <a:ext cx="5577840" cy="1234440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200" b="1">
                <a:solidFill>
                  <a:srgbClr val="262626"/>
                </a:solidFill>
              </a:rPr>
              <a:t>Recalibrar seqfold</a:t>
            </a:r>
          </a:p>
          <a:p>
            <a:r>
              <a:rPr sz="1000">
                <a:solidFill>
                  <a:srgbClr val="404040"/>
                </a:solidFill>
              </a:rPr>
              <a:t>Testar threshold −3.0 kcal/mol para eliminar probes
com estrutura secundária mais estável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4114800"/>
            <a:ext cx="5577840" cy="1234440"/>
          </a:xfrm>
          <a:prstGeom prst="rect">
            <a:avLst/>
          </a:prstGeom>
          <a:solidFill>
            <a:srgbClr val="FFE0DD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200" b="1">
                <a:solidFill>
                  <a:srgbClr val="262626"/>
                </a:solidFill>
              </a:rPr>
              <a:t>Resolver algD</a:t>
            </a:r>
          </a:p>
          <a:p>
            <a:r>
              <a:rPr sz="1000">
                <a:solidFill>
                  <a:srgbClr val="404040"/>
                </a:solidFill>
              </a:rPr>
              <a:t>Ampliar query NCBI (incluir P. fluorescens, P. putida)
ou usar base de dados alternativa (UniProt, SILVA)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26480"/>
            <a:ext cx="12191695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153912"/>
            <a:ext cx="121916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Candidatas prioritárias para validação:  p3367_frdB (frdB, H. influenzae)  e  p1382_lytA (lytA, S. pneumoniae)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